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nton Italics" charset="1" panose="00000500000000000000"/>
      <p:regular r:id="rId24"/>
    </p:embeddedFont>
    <p:embeddedFont>
      <p:font typeface="Times New Roman" charset="1" panose="02020603050405020304"/>
      <p:regular r:id="rId25"/>
    </p:embeddedFont>
    <p:embeddedFont>
      <p:font typeface="Times New Roman Bold" charset="1" panose="020208030705050203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8765" y="-381692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8" y="0"/>
                </a:lnTo>
                <a:lnTo>
                  <a:pt x="4594248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55515" y="-1897074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8"/>
                </a:lnTo>
                <a:lnTo>
                  <a:pt x="0" y="4594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5024732" y="6189493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7259300" y="6189493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91973" y="4719226"/>
            <a:ext cx="7237341" cy="3849497"/>
          </a:xfrm>
          <a:custGeom>
            <a:avLst/>
            <a:gdLst/>
            <a:ahLst/>
            <a:cxnLst/>
            <a:rect r="r" b="b" t="t" l="l"/>
            <a:pathLst>
              <a:path h="3849497" w="7237341">
                <a:moveTo>
                  <a:pt x="0" y="0"/>
                </a:moveTo>
                <a:lnTo>
                  <a:pt x="7237341" y="0"/>
                </a:lnTo>
                <a:lnTo>
                  <a:pt x="7237341" y="3849498"/>
                </a:lnTo>
                <a:lnTo>
                  <a:pt x="0" y="3849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472" t="-33663" r="-13705" b="-2581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84564" y="284285"/>
            <a:ext cx="7949496" cy="325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95"/>
              </a:lnSpc>
            </a:pPr>
            <a:r>
              <a:rPr lang="en-US" sz="19067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GRID</a:t>
            </a:r>
            <a:r>
              <a:rPr lang="en-US" sz="19067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-</a:t>
            </a:r>
            <a:r>
              <a:rPr lang="en-US" sz="19067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7680" y="5193889"/>
            <a:ext cx="6897301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spc="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Syed Ibrahim Ali (1604-22-748-010)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5798" y="6100669"/>
            <a:ext cx="5353050" cy="5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2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aiz Ahmed (1604-22-748-013)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5597" y="6986875"/>
            <a:ext cx="7047167" cy="5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300" spc="-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Husamuddin Bilal </a:t>
            </a:r>
            <a:r>
              <a:rPr lang="en-US" sz="3300" spc="-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(1604-22-748-017)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5798" y="7825456"/>
            <a:ext cx="486727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Guide:</a:t>
            </a: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Uma N Dulhare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9598" y="4376961"/>
            <a:ext cx="3372445" cy="6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5798" y="3623533"/>
            <a:ext cx="1166529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Department:</a:t>
            </a: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Computer Science &amp; </a:t>
            </a: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07031" y="9163050"/>
            <a:ext cx="952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25798" y="8809706"/>
            <a:ext cx="12994481" cy="70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College:</a:t>
            </a:r>
            <a:r>
              <a:rPr lang="en-US" sz="4000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Muffakham Jah College of Engineering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67566" y="-5080"/>
            <a:ext cx="4011216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b="true" sz="579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3151505">
            <a:off x="-3435898" y="96087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5" y="1992589"/>
                </a:lnTo>
                <a:lnTo>
                  <a:pt x="58920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3952" y="1014194"/>
            <a:ext cx="18074048" cy="927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153" indent="-377577" lvl="1">
              <a:lnSpc>
                <a:spcPts val="6820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GRID-X is an end-to-end machine learning system that predicts lap times, race outcomes, driver styles, and optimal pit strategies for Formula 1.</a:t>
            </a:r>
          </a:p>
          <a:p>
            <a:pPr algn="l" marL="755153" indent="-377577" lvl="1">
              <a:lnSpc>
                <a:spcPts val="6820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supervised, unsupervised, reinforcement, ensemble,transfer learning and computer vision paradigms.</a:t>
            </a:r>
          </a:p>
          <a:p>
            <a:pPr algn="l" marL="755153" indent="-377577" lvl="1">
              <a:lnSpc>
                <a:spcPts val="6820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powerful Supervised learning models to predict laptimes, and race outcomes and unsupervised learning to groups drivers according to driving style.</a:t>
            </a:r>
          </a:p>
          <a:p>
            <a:pPr algn="l" marL="755153" indent="-377577" lvl="1">
              <a:lnSpc>
                <a:spcPts val="6820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</a:t>
            </a:r>
            <a:r>
              <a:rPr lang="en-US" sz="34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 more advanced ml paradigms like reinforcement learning to optimise race strategy ,machine vission to analyse circuits and transfer learning to ease training.</a:t>
            </a:r>
          </a:p>
          <a:p>
            <a:pPr algn="l" marL="755153" indent="-377577" lvl="1">
              <a:lnSpc>
                <a:spcPts val="6820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explainability provides feature-level transparency for lap-time predictions.</a:t>
            </a:r>
          </a:p>
          <a:p>
            <a:pPr algn="l" marL="755153" indent="-377577" lvl="1">
              <a:lnSpc>
                <a:spcPts val="6820"/>
              </a:lnSpc>
              <a:buFont typeface="Arial"/>
              <a:buChar char="•"/>
            </a:pPr>
            <a:r>
              <a:rPr lang="en-US" sz="34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models are served through a unified FastAPI backend, ready for frontend integration.</a:t>
            </a:r>
          </a:p>
          <a:p>
            <a:pPr algn="l">
              <a:lnSpc>
                <a:spcPts val="584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3088" y="435610"/>
            <a:ext cx="6815435" cy="206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b="true" sz="579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SYSTEM</a:t>
            </a:r>
          </a:p>
          <a:p>
            <a:pPr algn="ctr">
              <a:lnSpc>
                <a:spcPts val="811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-3521256">
            <a:off x="-2946032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1574" y="1470615"/>
            <a:ext cx="16904851" cy="905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70" indent="-356235" lvl="1">
              <a:lnSpc>
                <a:spcPts val="72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F1 prediction tools are often single-purpose (e.g., only lap-time or only race outcome) and lack transparency.</a:t>
            </a:r>
          </a:p>
          <a:p>
            <a:pPr algn="just" marL="712470" indent="-356235" lvl="1">
              <a:lnSpc>
                <a:spcPts val="72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Commercial platforms (like some sports betting sites) use basic statistical models or single ML models without multi-paradigm integration.</a:t>
            </a:r>
          </a:p>
          <a:p>
            <a:pPr algn="just" marL="712470" indent="-356235" lvl="1">
              <a:lnSpc>
                <a:spcPts val="72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publicly available system combines regression, classification, clustering, reinforcement learning, and computer vision in one platform.</a:t>
            </a:r>
          </a:p>
          <a:p>
            <a:pPr algn="just" marL="712470" indent="-356235" lvl="1">
              <a:lnSpc>
                <a:spcPts val="72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solutions do not provide explainability or strategy optimization; they are “black boxes.”</a:t>
            </a:r>
          </a:p>
          <a:p>
            <a:pPr algn="just" marL="712470" indent="-356235" lvl="1">
              <a:lnSpc>
                <a:spcPts val="72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system addresses these gaps with a comprehensive, multi-paradigm, explainable AI platform.</a:t>
            </a:r>
          </a:p>
          <a:p>
            <a:pPr algn="ctr">
              <a:lnSpc>
                <a:spcPts val="726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578575">
            <a:off x="-1280790" y="-9962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0" y="0"/>
                </a:moveTo>
                <a:lnTo>
                  <a:pt x="5892064" y="0"/>
                </a:lnTo>
                <a:lnTo>
                  <a:pt x="5892064" y="1992590"/>
                </a:lnTo>
                <a:lnTo>
                  <a:pt x="0" y="1992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4578575">
            <a:off x="14162001" y="866664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1992590"/>
                </a:moveTo>
                <a:lnTo>
                  <a:pt x="0" y="1992590"/>
                </a:lnTo>
                <a:lnTo>
                  <a:pt x="0" y="0"/>
                </a:lnTo>
                <a:lnTo>
                  <a:pt x="5892064" y="0"/>
                </a:lnTo>
                <a:lnTo>
                  <a:pt x="5892064" y="199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5963" y="2029771"/>
            <a:ext cx="16736074" cy="7228529"/>
          </a:xfrm>
          <a:custGeom>
            <a:avLst/>
            <a:gdLst/>
            <a:ahLst/>
            <a:cxnLst/>
            <a:rect r="r" b="b" t="t" l="l"/>
            <a:pathLst>
              <a:path h="7228529" w="16736074">
                <a:moveTo>
                  <a:pt x="0" y="0"/>
                </a:moveTo>
                <a:lnTo>
                  <a:pt x="16736074" y="0"/>
                </a:lnTo>
                <a:lnTo>
                  <a:pt x="16736074" y="7228529"/>
                </a:lnTo>
                <a:lnTo>
                  <a:pt x="0" y="7228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694" r="-2934" b="-2931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31653" y="742950"/>
            <a:ext cx="8187333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b="true" sz="579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LITERATURE SURVEY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18970" y="435610"/>
            <a:ext cx="7223671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b="true" sz="579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SYSTEM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3521256">
            <a:off x="-2946032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3667795">
            <a:off x="14313268" y="826200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1992590"/>
                </a:moveTo>
                <a:lnTo>
                  <a:pt x="0" y="1992590"/>
                </a:lnTo>
                <a:lnTo>
                  <a:pt x="0" y="0"/>
                </a:lnTo>
                <a:lnTo>
                  <a:pt x="5892064" y="0"/>
                </a:lnTo>
                <a:lnTo>
                  <a:pt x="5892064" y="199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6736" y="1536065"/>
            <a:ext cx="13988138" cy="848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sz="3438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 Diagram </a:t>
            </a:r>
          </a:p>
          <a:p>
            <a:pPr algn="l" marL="699097" indent="-349548" lvl="1">
              <a:lnSpc>
                <a:spcPts val="4565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Layer: FastF1 API (modern telemetry) + Kaggle historical dataset (1950–2020) → preprocessing pipelines.</a:t>
            </a:r>
          </a:p>
          <a:p>
            <a:pPr algn="l" marL="699097" indent="-349548" lvl="1">
              <a:lnSpc>
                <a:spcPts val="4565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Layer:</a:t>
            </a:r>
          </a:p>
          <a:p>
            <a:pPr algn="l" marL="1398193" indent="-466064" lvl="2">
              <a:lnSpc>
                <a:spcPts val="456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Lap-Time Predictor (RandomForest)</a:t>
            </a:r>
          </a:p>
          <a:p>
            <a:pPr algn="l" marL="1398193" indent="-466064" lvl="2">
              <a:lnSpc>
                <a:spcPts val="456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 Style Analyzer (KMeans)</a:t>
            </a:r>
          </a:p>
          <a:p>
            <a:pPr algn="l" marL="1398193" indent="-466064" lvl="2">
              <a:lnSpc>
                <a:spcPts val="456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Race Outcome Classifier (Dual-era XGBoost + Logistic Ensemble)</a:t>
            </a:r>
          </a:p>
          <a:p>
            <a:pPr algn="l" marL="1398193" indent="-466064" lvl="2">
              <a:lnSpc>
                <a:spcPts val="456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Pace Forecaster (LSTM)</a:t>
            </a:r>
          </a:p>
          <a:p>
            <a:pPr algn="l" marL="1398193" indent="-466064" lvl="2">
              <a:lnSpc>
                <a:spcPts val="456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Strategy Optimizer (DQN)</a:t>
            </a:r>
          </a:p>
          <a:p>
            <a:pPr algn="l" marL="1398193" indent="-466064" lvl="2">
              <a:lnSpc>
                <a:spcPts val="4565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Analyzer (ResNet50 CNN)</a:t>
            </a:r>
          </a:p>
          <a:p>
            <a:pPr algn="l" marL="699097" indent="-349548" lvl="1">
              <a:lnSpc>
                <a:spcPts val="4565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Layer: int_en_pred_2.py loads all models; provides unified methods.</a:t>
            </a:r>
          </a:p>
          <a:p>
            <a:pPr algn="l" marL="699097" indent="-349548" lvl="1">
              <a:lnSpc>
                <a:spcPts val="4565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Layer: FastAPI server with six endpoints (/predict, /stint-simulate, /next-lap, /strategy-optimize, /analyze-circuit, /explain-lap).</a:t>
            </a:r>
          </a:p>
          <a:p>
            <a:pPr algn="l" marL="699097" indent="-349548" lvl="1">
              <a:lnSpc>
                <a:spcPts val="4565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(Planned) React dashboard</a:t>
            </a:r>
          </a:p>
          <a:p>
            <a:pPr algn="l">
              <a:lnSpc>
                <a:spcPts val="341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2946032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667795">
            <a:off x="14313268" y="826200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1992590"/>
                </a:moveTo>
                <a:lnTo>
                  <a:pt x="0" y="1992590"/>
                </a:lnTo>
                <a:lnTo>
                  <a:pt x="0" y="0"/>
                </a:lnTo>
                <a:lnTo>
                  <a:pt x="5892064" y="0"/>
                </a:lnTo>
                <a:lnTo>
                  <a:pt x="5892064" y="199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89758" y="1848030"/>
            <a:ext cx="11392877" cy="6887726"/>
          </a:xfrm>
          <a:custGeom>
            <a:avLst/>
            <a:gdLst/>
            <a:ahLst/>
            <a:cxnLst/>
            <a:rect r="r" b="b" t="t" l="l"/>
            <a:pathLst>
              <a:path h="6887726" w="11392877">
                <a:moveTo>
                  <a:pt x="0" y="0"/>
                </a:moveTo>
                <a:lnTo>
                  <a:pt x="11392877" y="0"/>
                </a:lnTo>
                <a:lnTo>
                  <a:pt x="11392877" y="6887726"/>
                </a:lnTo>
                <a:lnTo>
                  <a:pt x="0" y="6887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785" r="0" b="-578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92963" y="914400"/>
            <a:ext cx="946383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88136" y="8818880"/>
            <a:ext cx="10520788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E-R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2946032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667795">
            <a:off x="14313268" y="826200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1992590"/>
                </a:moveTo>
                <a:lnTo>
                  <a:pt x="0" y="1992590"/>
                </a:lnTo>
                <a:lnTo>
                  <a:pt x="0" y="0"/>
                </a:lnTo>
                <a:lnTo>
                  <a:pt x="5892064" y="0"/>
                </a:lnTo>
                <a:lnTo>
                  <a:pt x="5892064" y="199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85677" y="1612685"/>
            <a:ext cx="10909694" cy="7607515"/>
          </a:xfrm>
          <a:custGeom>
            <a:avLst/>
            <a:gdLst/>
            <a:ahLst/>
            <a:cxnLst/>
            <a:rect r="r" b="b" t="t" l="l"/>
            <a:pathLst>
              <a:path h="7607515" w="10909694">
                <a:moveTo>
                  <a:pt x="0" y="0"/>
                </a:moveTo>
                <a:lnTo>
                  <a:pt x="10909694" y="0"/>
                </a:lnTo>
                <a:lnTo>
                  <a:pt x="10909694" y="7607515"/>
                </a:lnTo>
                <a:lnTo>
                  <a:pt x="0" y="7607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374" r="0" b="-737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08608" y="752475"/>
            <a:ext cx="946383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69766" y="9370897"/>
            <a:ext cx="4779615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Flow Dagrams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2946032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667795">
            <a:off x="14313268" y="826200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1992590"/>
                </a:moveTo>
                <a:lnTo>
                  <a:pt x="0" y="1992590"/>
                </a:lnTo>
                <a:lnTo>
                  <a:pt x="0" y="0"/>
                </a:lnTo>
                <a:lnTo>
                  <a:pt x="5892064" y="0"/>
                </a:lnTo>
                <a:lnTo>
                  <a:pt x="5892064" y="199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53509" y="1656724"/>
            <a:ext cx="7439637" cy="7414242"/>
          </a:xfrm>
          <a:custGeom>
            <a:avLst/>
            <a:gdLst/>
            <a:ahLst/>
            <a:cxnLst/>
            <a:rect r="r" b="b" t="t" l="l"/>
            <a:pathLst>
              <a:path h="7414242" w="7439637">
                <a:moveTo>
                  <a:pt x="0" y="0"/>
                </a:moveTo>
                <a:lnTo>
                  <a:pt x="7439637" y="0"/>
                </a:lnTo>
                <a:lnTo>
                  <a:pt x="7439637" y="7414242"/>
                </a:lnTo>
                <a:lnTo>
                  <a:pt x="0" y="7414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3" t="-1643" r="0" b="-142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53722" y="435610"/>
            <a:ext cx="5954167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b="true" sz="579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UML DIAGRAMS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27330" y="9153525"/>
            <a:ext cx="4406950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Case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2946032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667795">
            <a:off x="14313268" y="826200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1992590"/>
                </a:moveTo>
                <a:lnTo>
                  <a:pt x="0" y="1992590"/>
                </a:lnTo>
                <a:lnTo>
                  <a:pt x="0" y="0"/>
                </a:lnTo>
                <a:lnTo>
                  <a:pt x="5892064" y="0"/>
                </a:lnTo>
                <a:lnTo>
                  <a:pt x="5892064" y="199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19588" y="2127006"/>
            <a:ext cx="11481730" cy="6032988"/>
          </a:xfrm>
          <a:custGeom>
            <a:avLst/>
            <a:gdLst/>
            <a:ahLst/>
            <a:cxnLst/>
            <a:rect r="r" b="b" t="t" l="l"/>
            <a:pathLst>
              <a:path h="6032988" w="11481730">
                <a:moveTo>
                  <a:pt x="0" y="0"/>
                </a:moveTo>
                <a:lnTo>
                  <a:pt x="11481730" y="0"/>
                </a:lnTo>
                <a:lnTo>
                  <a:pt x="11481730" y="6032988"/>
                </a:lnTo>
                <a:lnTo>
                  <a:pt x="0" y="603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98" r="0" b="-459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53722" y="435610"/>
            <a:ext cx="5954167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b="true" sz="579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UML DIAGRAMS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16912" y="8387193"/>
            <a:ext cx="4484936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Sequence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2946032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667795">
            <a:off x="14313268" y="826200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1992590"/>
                </a:moveTo>
                <a:lnTo>
                  <a:pt x="0" y="1992590"/>
                </a:lnTo>
                <a:lnTo>
                  <a:pt x="0" y="0"/>
                </a:lnTo>
                <a:lnTo>
                  <a:pt x="5892064" y="0"/>
                </a:lnTo>
                <a:lnTo>
                  <a:pt x="5892064" y="199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67965" y="435610"/>
            <a:ext cx="6254502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b="true" sz="579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27815"/>
            <a:ext cx="17259300" cy="806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2"/>
              </a:lnSpc>
            </a:pPr>
            <a:r>
              <a:rPr lang="en-US" sz="384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Lap-Time Prediction (Random Forest)</a:t>
            </a:r>
          </a:p>
          <a:p>
            <a:pPr algn="l" marL="829984" indent="-414992" lvl="1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21 features (weather, tyre age, stint progress, circuit, driver…)</a:t>
            </a:r>
          </a:p>
          <a:p>
            <a:pPr algn="l" marL="829984" indent="-414992" lvl="1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Lap time (seconds)</a:t>
            </a:r>
          </a:p>
          <a:p>
            <a:pPr algn="l" marL="829984" indent="-414992" lvl="1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 Random Forest Regressor with 100 trees; hyperparameter tuning via GridSearch.</a:t>
            </a:r>
          </a:p>
          <a:p>
            <a:pPr algn="l" marL="829984" indent="-414992" lvl="1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Performance: RMSE = 2.787s, R² = 0.993, MAE = 0.96s.</a:t>
            </a:r>
          </a:p>
          <a:p>
            <a:pPr algn="l">
              <a:lnSpc>
                <a:spcPts val="5382"/>
              </a:lnSpc>
            </a:pPr>
            <a:r>
              <a:rPr lang="en-US" sz="384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Race Outcome Classification (Dual-era Ensemble)</a:t>
            </a:r>
          </a:p>
          <a:p>
            <a:pPr algn="l" marL="829984" indent="-414992" lvl="1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model: XGBoost on 1950–2020 data (13 features).</a:t>
            </a:r>
          </a:p>
          <a:p>
            <a:pPr algn="l" marL="829984" indent="-414992" lvl="1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model: XGBoost on 2021–2024 data (10 features).</a:t>
            </a:r>
          </a:p>
          <a:p>
            <a:pPr algn="l" marL="829984" indent="-414992" lvl="1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Ensemble: Logistic regression on the two model probabilities.</a:t>
            </a:r>
          </a:p>
          <a:p>
            <a:pPr algn="l" marL="829984" indent="-414992" lvl="1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Accuracy: Win 96.4%, Podium 93.2%, Points 88.6%.</a:t>
            </a:r>
          </a:p>
          <a:p>
            <a:pPr algn="l">
              <a:lnSpc>
                <a:spcPts val="496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3218803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5" y="1992589"/>
                </a:lnTo>
                <a:lnTo>
                  <a:pt x="58920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667795">
            <a:off x="14313268" y="826200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1992590"/>
                </a:moveTo>
                <a:lnTo>
                  <a:pt x="0" y="1992590"/>
                </a:lnTo>
                <a:lnTo>
                  <a:pt x="0" y="0"/>
                </a:lnTo>
                <a:lnTo>
                  <a:pt x="5892064" y="0"/>
                </a:lnTo>
                <a:lnTo>
                  <a:pt x="5892064" y="1992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3877" y="1199452"/>
            <a:ext cx="17104123" cy="8709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6"/>
              </a:lnSpc>
            </a:pPr>
            <a:r>
              <a:rPr lang="en-US" sz="3847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Driver Style Clustering (KMeans)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engineered from telemetry (consistency, aggression, braking, etc.).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k=4 (Silhouette score).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Resulting clusters: </a:t>
            </a: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Aggressive, Smooth, Opportunistic, Balanced.</a:t>
            </a:r>
          </a:p>
          <a:p>
            <a:pPr algn="l">
              <a:lnSpc>
                <a:spcPts val="5386"/>
              </a:lnSpc>
            </a:pPr>
            <a:r>
              <a:rPr lang="en-US" sz="3847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Reinforcement Learning (DQN)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Environment: Custom RaceEnv with linear tyre degradation (0.1–0.5 s/lap, compound-specific).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State: (lap norm, tyre age norm, one-hot compound).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Actions: Stay out / pit to SOFT / MEDIUM / HARD.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Reward: Negative lap time (minimize total race time).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Training: DQN with experience replay, target network, 1000 episodes.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Learns optimal pit stops (e.g., 4 stops for 78-lap race)</a:t>
            </a:r>
            <a:r>
              <a:rPr lang="en-US" b="true" sz="384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l">
              <a:lnSpc>
                <a:spcPts val="468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3218803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5" y="1992589"/>
                </a:lnTo>
                <a:lnTo>
                  <a:pt x="58920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049617">
            <a:off x="14536443" y="8460384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1992589"/>
                </a:moveTo>
                <a:lnTo>
                  <a:pt x="0" y="1992589"/>
                </a:lnTo>
                <a:lnTo>
                  <a:pt x="0" y="0"/>
                </a:lnTo>
                <a:lnTo>
                  <a:pt x="5892065" y="0"/>
                </a:lnTo>
                <a:lnTo>
                  <a:pt x="5892065" y="19925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1512" y="1901127"/>
            <a:ext cx="17426488" cy="668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6"/>
              </a:lnSpc>
            </a:pPr>
            <a:r>
              <a:rPr lang="en-US" sz="3847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Circuit Recognition (CNN)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 ResNet50 pre-trained on ImageNet, fine-tuned on 24 circuit schematic images.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augmentation: rotation, flip, color jitter.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utput: T</a:t>
            </a: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op-3 circuit predictions with confidence; embeddings for similarity search.</a:t>
            </a:r>
          </a:p>
          <a:p>
            <a:pPr algn="l">
              <a:lnSpc>
                <a:spcPts val="5386"/>
              </a:lnSpc>
            </a:pPr>
            <a:r>
              <a:rPr lang="en-US" sz="3847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Explainability (SHAP)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TreeExplainer on RandomForest lap-time model.</a:t>
            </a:r>
          </a:p>
          <a:p>
            <a:pPr algn="l" marL="830678" indent="-415339" lvl="1">
              <a:lnSpc>
                <a:spcPts val="5386"/>
              </a:lnSpc>
              <a:buFont typeface="Arial"/>
              <a:buChar char="•"/>
            </a:pP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</a:t>
            </a: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a given prediction, returns top-10 features with SHAP values (positive/negative impact)</a:t>
            </a:r>
            <a:r>
              <a:rPr lang="en-US" sz="38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468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3218803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5" y="1992589"/>
                </a:lnTo>
                <a:lnTo>
                  <a:pt x="58920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049617">
            <a:off x="14536443" y="8460384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1992589"/>
                </a:moveTo>
                <a:lnTo>
                  <a:pt x="0" y="1992589"/>
                </a:lnTo>
                <a:lnTo>
                  <a:pt x="0" y="0"/>
                </a:lnTo>
                <a:lnTo>
                  <a:pt x="5892065" y="0"/>
                </a:lnTo>
                <a:lnTo>
                  <a:pt x="5892065" y="19925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5119" y="1870665"/>
            <a:ext cx="17432881" cy="869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Modern Data (2021–2024)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ource: FastF1 API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Records: 90,901 clean laps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 57 columns including lap times, sector times, speeds, weather, tyre compound, stint, driver, team.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Drivers: 34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Events: 29 race weekends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Historical Data (1950–2020)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Kaggle F1 Dataset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Records: 26,759 race entries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 driver, constructor, grid, position, points, year, circuit, etc.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Drivers: 861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</a:t>
            </a: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truct</a:t>
            </a: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ors: 211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Circuits: 77</a:t>
            </a:r>
          </a:p>
          <a:p>
            <a:pPr algn="l">
              <a:lnSpc>
                <a:spcPts val="376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816955" y="714375"/>
            <a:ext cx="7761387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DESCRIPTION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3218803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5" y="1992589"/>
                </a:lnTo>
                <a:lnTo>
                  <a:pt x="58920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049617">
            <a:off x="14536443" y="8460384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1992589"/>
                </a:moveTo>
                <a:lnTo>
                  <a:pt x="0" y="1992589"/>
                </a:lnTo>
                <a:lnTo>
                  <a:pt x="0" y="0"/>
                </a:lnTo>
                <a:lnTo>
                  <a:pt x="5892065" y="0"/>
                </a:lnTo>
                <a:lnTo>
                  <a:pt x="5892065" y="19925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8672" y="3338238"/>
            <a:ext cx="16690628" cy="269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Circuit Image Dataset</a:t>
            </a:r>
          </a:p>
          <a:p>
            <a:pPr algn="l" marL="712470" indent="-356235" lvl="1">
              <a:lnSpc>
                <a:spcPts val="5643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Web scraping + teammate collection</a:t>
            </a:r>
          </a:p>
          <a:p>
            <a:pPr algn="l" marL="712470" indent="-356235" lvl="1">
              <a:lnSpc>
                <a:spcPts val="5643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Images: 24 schematic circuit maps (PNG, 224×224, white background, black track lines)</a:t>
            </a:r>
          </a:p>
          <a:p>
            <a:pPr algn="l" marL="712470" indent="-356235" lvl="1">
              <a:lnSpc>
                <a:spcPts val="5643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Metadata: circuit name, full name, location, track type, length, corners, first GP, lap record, etc.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3218803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5" y="1992589"/>
                </a:lnTo>
                <a:lnTo>
                  <a:pt x="58920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049617">
            <a:off x="14536443" y="8460384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1992589"/>
                </a:moveTo>
                <a:lnTo>
                  <a:pt x="0" y="1992589"/>
                </a:lnTo>
                <a:lnTo>
                  <a:pt x="0" y="0"/>
                </a:lnTo>
                <a:lnTo>
                  <a:pt x="5892065" y="0"/>
                </a:lnTo>
                <a:lnTo>
                  <a:pt x="5892065" y="19925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7215" y="2529541"/>
            <a:ext cx="13501472" cy="3083315"/>
          </a:xfrm>
          <a:custGeom>
            <a:avLst/>
            <a:gdLst/>
            <a:ahLst/>
            <a:cxnLst/>
            <a:rect r="r" b="b" t="t" l="l"/>
            <a:pathLst>
              <a:path h="3083315" w="13501472">
                <a:moveTo>
                  <a:pt x="0" y="0"/>
                </a:moveTo>
                <a:lnTo>
                  <a:pt x="13501472" y="0"/>
                </a:lnTo>
                <a:lnTo>
                  <a:pt x="13501472" y="3083315"/>
                </a:lnTo>
                <a:lnTo>
                  <a:pt x="0" y="3083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877" b="-1756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6371" y="93980"/>
            <a:ext cx="7007275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Implementation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6367" y="1229110"/>
            <a:ext cx="2963168" cy="67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Snippets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7955" y="1718900"/>
            <a:ext cx="4384135" cy="67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Lap-Time Pre</a:t>
            </a:r>
            <a:r>
              <a:rPr lang="en-US" b="true" sz="3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dictor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27066" y="6543467"/>
            <a:ext cx="13681770" cy="3519703"/>
          </a:xfrm>
          <a:custGeom>
            <a:avLst/>
            <a:gdLst/>
            <a:ahLst/>
            <a:cxnLst/>
            <a:rect r="r" b="b" t="t" l="l"/>
            <a:pathLst>
              <a:path h="3519703" w="13681770">
                <a:moveTo>
                  <a:pt x="0" y="0"/>
                </a:moveTo>
                <a:lnTo>
                  <a:pt x="13681770" y="0"/>
                </a:lnTo>
                <a:lnTo>
                  <a:pt x="13681770" y="3519703"/>
                </a:lnTo>
                <a:lnTo>
                  <a:pt x="0" y="3519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863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7955" y="5800186"/>
            <a:ext cx="6291481" cy="6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DQN </a:t>
            </a:r>
            <a:r>
              <a:rPr lang="en-US" b="true" sz="3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Agent – Action Selection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3218803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5" y="1992589"/>
                </a:lnTo>
                <a:lnTo>
                  <a:pt x="58920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049617">
            <a:off x="14536443" y="8460384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1992589"/>
                </a:moveTo>
                <a:lnTo>
                  <a:pt x="0" y="1992589"/>
                </a:lnTo>
                <a:lnTo>
                  <a:pt x="0" y="0"/>
                </a:lnTo>
                <a:lnTo>
                  <a:pt x="5892065" y="0"/>
                </a:lnTo>
                <a:lnTo>
                  <a:pt x="5892065" y="19925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2967" y="442519"/>
            <a:ext cx="9423146" cy="3332541"/>
          </a:xfrm>
          <a:custGeom>
            <a:avLst/>
            <a:gdLst/>
            <a:ahLst/>
            <a:cxnLst/>
            <a:rect r="r" b="b" t="t" l="l"/>
            <a:pathLst>
              <a:path h="3332541" w="9423146">
                <a:moveTo>
                  <a:pt x="0" y="0"/>
                </a:moveTo>
                <a:lnTo>
                  <a:pt x="9423145" y="0"/>
                </a:lnTo>
                <a:lnTo>
                  <a:pt x="9423145" y="3332541"/>
                </a:lnTo>
                <a:lnTo>
                  <a:pt x="0" y="3332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69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4985" y="4675171"/>
            <a:ext cx="9926979" cy="5310112"/>
          </a:xfrm>
          <a:custGeom>
            <a:avLst/>
            <a:gdLst/>
            <a:ahLst/>
            <a:cxnLst/>
            <a:rect r="r" b="b" t="t" l="l"/>
            <a:pathLst>
              <a:path h="5310112" w="9926979">
                <a:moveTo>
                  <a:pt x="0" y="0"/>
                </a:moveTo>
                <a:lnTo>
                  <a:pt x="9926979" y="0"/>
                </a:lnTo>
                <a:lnTo>
                  <a:pt x="9926979" y="5310112"/>
                </a:lnTo>
                <a:lnTo>
                  <a:pt x="0" y="5310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22" t="-5083" r="-667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3825542"/>
            <a:ext cx="3450234" cy="8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37629" y="1433785"/>
            <a:ext cx="9423146" cy="67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 model definition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7474" y="6153577"/>
            <a:ext cx="3820269" cy="6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Stint Degradatiion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521256">
            <a:off x="-3218803" y="1112495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5" y="1992589"/>
                </a:lnTo>
                <a:lnTo>
                  <a:pt x="58920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3049617">
            <a:off x="14536443" y="8460384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5" y="1992589"/>
                </a:moveTo>
                <a:lnTo>
                  <a:pt x="0" y="1992589"/>
                </a:lnTo>
                <a:lnTo>
                  <a:pt x="0" y="0"/>
                </a:lnTo>
                <a:lnTo>
                  <a:pt x="5892065" y="0"/>
                </a:lnTo>
                <a:lnTo>
                  <a:pt x="5892065" y="199258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49059" y="495300"/>
            <a:ext cx="13887450" cy="9258300"/>
          </a:xfrm>
          <a:custGeom>
            <a:avLst/>
            <a:gdLst/>
            <a:ahLst/>
            <a:cxnLst/>
            <a:rect r="r" b="b" t="t" l="l"/>
            <a:pathLst>
              <a:path h="9258300" w="13887450">
                <a:moveTo>
                  <a:pt x="0" y="0"/>
                </a:moveTo>
                <a:lnTo>
                  <a:pt x="13887450" y="0"/>
                </a:lnTo>
                <a:lnTo>
                  <a:pt x="1388745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09151" y="2905010"/>
            <a:ext cx="8340416" cy="344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1"/>
              </a:lnSpc>
            </a:pPr>
            <a:r>
              <a:rPr lang="en-US" sz="20136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THANK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44488" y="5100843"/>
            <a:ext cx="5564023" cy="343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190"/>
              </a:lnSpc>
            </a:pPr>
            <a:r>
              <a:rPr lang="en-US" sz="20136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93291" y="0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07400" y="214569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300462" y="5686887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4901153" y="5472318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DAHCtknyhmM</dc:identifier>
  <dcterms:modified xsi:type="dcterms:W3CDTF">2011-08-01T06:04:30Z</dcterms:modified>
  <cp:revision>1</cp:revision>
  <dc:title>Black and Red Modern Car Dealer Presentation</dc:title>
</cp:coreProperties>
</file>